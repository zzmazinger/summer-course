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2"/>
  </p:notesMasterIdLst>
  <p:sldIdLst>
    <p:sldId id="256" r:id="rId2"/>
    <p:sldId id="294" r:id="rId3"/>
    <p:sldId id="295" r:id="rId4"/>
    <p:sldId id="296" r:id="rId5"/>
    <p:sldId id="312" r:id="rId6"/>
    <p:sldId id="297" r:id="rId7"/>
    <p:sldId id="298" r:id="rId8"/>
    <p:sldId id="300" r:id="rId9"/>
    <p:sldId id="299" r:id="rId10"/>
    <p:sldId id="313" r:id="rId11"/>
    <p:sldId id="303" r:id="rId12"/>
    <p:sldId id="301" r:id="rId13"/>
    <p:sldId id="302" r:id="rId14"/>
    <p:sldId id="305" r:id="rId15"/>
    <p:sldId id="307" r:id="rId16"/>
    <p:sldId id="308" r:id="rId17"/>
    <p:sldId id="311" r:id="rId18"/>
    <p:sldId id="304" r:id="rId19"/>
    <p:sldId id="309" r:id="rId20"/>
    <p:sldId id="310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6" autoAdjust="0"/>
    <p:restoredTop sz="86957" autoAdjust="0"/>
  </p:normalViewPr>
  <p:slideViewPr>
    <p:cSldViewPr snapToGrid="0">
      <p:cViewPr varScale="1">
        <p:scale>
          <a:sx n="177" d="100"/>
          <a:sy n="177" d="100"/>
        </p:scale>
        <p:origin x="81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https://en.wikipedia.org/wiki/Computer_network#/media/File:Internet_map_1024.jpg</a:t>
            </a:r>
          </a:p>
        </p:txBody>
      </p:sp>
    </p:spTree>
    <p:extLst>
      <p:ext uri="{BB962C8B-B14F-4D97-AF65-F5344CB8AC3E}">
        <p14:creationId xmlns:p14="http://schemas.microsoft.com/office/powerpoint/2010/main" val="6959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https://en.wikipedia.org/wiki/OSI_model</a:t>
            </a:r>
          </a:p>
        </p:txBody>
      </p:sp>
    </p:spTree>
    <p:extLst>
      <p:ext uri="{BB962C8B-B14F-4D97-AF65-F5344CB8AC3E}">
        <p14:creationId xmlns:p14="http://schemas.microsoft.com/office/powerpoint/2010/main" val="261462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Given a host address, determine network address</a:t>
            </a:r>
          </a:p>
          <a:p>
            <a:pPr marL="457200" indent="-298450">
              <a:buFontTx/>
              <a:buChar char="-"/>
            </a:pPr>
            <a:r>
              <a:rPr lang="en-US" dirty="0"/>
              <a:t>Convert to binary</a:t>
            </a:r>
          </a:p>
          <a:p>
            <a:pPr marL="457200" indent="-298450">
              <a:buFontTx/>
              <a:buChar char="-"/>
            </a:pPr>
            <a:r>
              <a:rPr lang="en-US" dirty="0"/>
              <a:t>Apply network mask</a:t>
            </a:r>
          </a:p>
          <a:p>
            <a:pPr marL="457200" indent="-298450">
              <a:buFontTx/>
              <a:buChar char="-"/>
            </a:pPr>
            <a:r>
              <a:rPr lang="en-US" dirty="0"/>
              <a:t>Convert to </a:t>
            </a:r>
            <a:r>
              <a:rPr lang="en-US"/>
              <a:t>dotted decimal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31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Subnetting allows us to split one larger network into multiple, smaller networks.</a:t>
            </a:r>
          </a:p>
        </p:txBody>
      </p:sp>
    </p:spTree>
    <p:extLst>
      <p:ext uri="{BB962C8B-B14F-4D97-AF65-F5344CB8AC3E}">
        <p14:creationId xmlns:p14="http://schemas.microsoft.com/office/powerpoint/2010/main" val="3696674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16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59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lessons, you’ll see how crazy the port mappings can get.</a:t>
            </a:r>
          </a:p>
        </p:txBody>
      </p:sp>
    </p:spTree>
    <p:extLst>
      <p:ext uri="{BB962C8B-B14F-4D97-AF65-F5344CB8AC3E}">
        <p14:creationId xmlns:p14="http://schemas.microsoft.com/office/powerpoint/2010/main" val="198171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0154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72896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520928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96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889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36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7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3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5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59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6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77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10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4561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60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5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98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24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9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22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282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5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0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546B20E-1AD8-90B4-10F0-DC5B258D6B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B3679-8BFC-43D1-8E99-ED71D73451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DB6EE9-52A8-F21F-E042-469CF908B7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B55D3E4-2696-884D-92DC-16928B81DB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75116E0-ADB2-8073-532F-8EB1B1AA37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733666-36DB-E3A5-FEAC-037C9BFC18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C9FCE9-49DE-579F-3270-9C1575A367D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C9DF61A-FCAA-4DE0-FB4D-85FB808386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64EB8E-32D0-FE09-1D1C-D5C173C4849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0499FE-11F1-07D8-0E40-E0E0E89A4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 For Applications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45136737-FA8A-B6BB-1F02-F5D91F71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3AB2E4-2222-D7ED-DC5C-7812E742D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F6E5-EDBC-529F-172F-5220053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27C4-28D4-ECAD-61C5-B3FC4382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OSI model</a:t>
            </a:r>
          </a:p>
          <a:p>
            <a:r>
              <a:rPr lang="en-US" dirty="0"/>
              <a:t>Addressing</a:t>
            </a:r>
          </a:p>
          <a:p>
            <a:pPr lvl="1"/>
            <a:r>
              <a:rPr lang="en-US" dirty="0"/>
              <a:t>Implement IPv4 addressing</a:t>
            </a:r>
          </a:p>
          <a:p>
            <a:pPr lvl="1"/>
            <a:r>
              <a:rPr lang="en-US" dirty="0"/>
              <a:t>Understand network structures</a:t>
            </a:r>
          </a:p>
          <a:p>
            <a:pPr lvl="1"/>
            <a:r>
              <a:rPr lang="en-US" dirty="0"/>
              <a:t>Discuss private networks and NAT translation</a:t>
            </a:r>
          </a:p>
          <a:p>
            <a:r>
              <a:rPr lang="en-US" dirty="0"/>
              <a:t>Multiplexing</a:t>
            </a:r>
          </a:p>
          <a:p>
            <a:pPr lvl="1"/>
            <a:r>
              <a:rPr lang="en-US" dirty="0"/>
              <a:t>Explain port numbers and application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7160" lvl="1" indent="0">
              <a:buNone/>
            </a:pPr>
            <a:r>
              <a:rPr lang="en-US" dirty="0"/>
              <a:t>(Light MATH warning)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84EE-75F2-B6C6-6EDA-69AD9FF7AE5E}"/>
              </a:ext>
            </a:extLst>
          </p:cNvPr>
          <p:cNvSpPr txBox="1"/>
          <p:nvPr/>
        </p:nvSpPr>
        <p:spPr>
          <a:xfrm>
            <a:off x="200556" y="3347581"/>
            <a:ext cx="2275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🚨		🚨</a:t>
            </a:r>
          </a:p>
        </p:txBody>
      </p:sp>
    </p:spTree>
    <p:extLst>
      <p:ext uri="{BB962C8B-B14F-4D97-AF65-F5344CB8AC3E}">
        <p14:creationId xmlns:p14="http://schemas.microsoft.com/office/powerpoint/2010/main" val="32634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0CF-5EA8-509F-58DB-C11468C4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7ACF-160C-95A7-9563-0C752868E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Devices are </a:t>
            </a:r>
            <a:r>
              <a:rPr lang="en-US" i="1" dirty="0"/>
              <a:t>more useful</a:t>
            </a:r>
            <a:r>
              <a:rPr lang="en-US" dirty="0"/>
              <a:t> when they can talk to other devices (citation needed)</a:t>
            </a:r>
          </a:p>
          <a:p>
            <a:r>
              <a:rPr lang="en-US" dirty="0"/>
              <a:t>Very first connection </a:t>
            </a:r>
            <a:r>
              <a:rPr lang="en-US" dirty="0">
                <a:sym typeface="Wingdings" panose="05000000000000000000" pitchFamily="2" charset="2"/>
              </a:rPr>
              <a:t> 1940</a:t>
            </a:r>
          </a:p>
          <a:p>
            <a:r>
              <a:rPr lang="en-US" dirty="0">
                <a:sym typeface="Wingdings" panose="05000000000000000000" pitchFamily="2" charset="2"/>
              </a:rPr>
              <a:t>Fledgling networks through 1960s-70s</a:t>
            </a:r>
          </a:p>
          <a:p>
            <a:r>
              <a:rPr lang="en-US" dirty="0">
                <a:sym typeface="Wingdings" panose="05000000000000000000" pitchFamily="2" charset="2"/>
              </a:rPr>
              <a:t>ARPANET / ALOHA</a:t>
            </a:r>
          </a:p>
          <a:p>
            <a:r>
              <a:rPr lang="en-US" dirty="0">
                <a:sym typeface="Wingdings" panose="05000000000000000000" pitchFamily="2" charset="2"/>
              </a:rPr>
              <a:t>Internetworks in late 70s</a:t>
            </a:r>
          </a:p>
          <a:p>
            <a:r>
              <a:rPr lang="en-US" dirty="0">
                <a:sym typeface="Wingdings" panose="05000000000000000000" pitchFamily="2" charset="2"/>
              </a:rPr>
              <a:t>Research &amp; commercial adoption</a:t>
            </a:r>
          </a:p>
          <a:p>
            <a:endParaRPr lang="en-US" dirty="0"/>
          </a:p>
          <a:p>
            <a:r>
              <a:rPr lang="en-US" dirty="0"/>
              <a:t>Today, billions of devices connected across billions of separate networks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EE682C-278C-1CD1-D51F-A89B555A81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3" y="800099"/>
            <a:ext cx="4199365" cy="41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AAC-2F40-C69A-08B2-C43992C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363D-43B7-B739-C39B-D8370528E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networks are complex</a:t>
            </a:r>
          </a:p>
          <a:p>
            <a:r>
              <a:rPr lang="en-US" dirty="0"/>
              <a:t>Desire to exchange network services based on needs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Mobility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Separate functionality / roles into layers</a:t>
            </a:r>
          </a:p>
          <a:p>
            <a:r>
              <a:rPr lang="en-US" dirty="0"/>
              <a:t>Base concerns for application developers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Multiplexing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Addressing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Other layers important for troubleshooting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A3E7A1-EF6A-06EB-B02A-748E2F7B4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4572000" y="262002"/>
            <a:ext cx="4506517" cy="4572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CB8CB0C-159B-9C6E-5815-3046365443EC}"/>
              </a:ext>
            </a:extLst>
          </p:cNvPr>
          <p:cNvSpPr/>
          <p:nvPr/>
        </p:nvSpPr>
        <p:spPr>
          <a:xfrm>
            <a:off x="7561857" y="3573516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631EC0-5266-02EE-29FE-6E5508EE47A0}"/>
              </a:ext>
            </a:extLst>
          </p:cNvPr>
          <p:cNvSpPr/>
          <p:nvPr/>
        </p:nvSpPr>
        <p:spPr>
          <a:xfrm>
            <a:off x="6721029" y="3205654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396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557A-D8EE-586F-8079-0A93902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Aside: 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5F6A-09B3-908F-B298-8492DF86A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Ever interact with a protocol officer?</a:t>
            </a:r>
          </a:p>
          <a:p>
            <a:r>
              <a:rPr lang="en-US" dirty="0"/>
              <a:t>Protocols inform developers how to communicate</a:t>
            </a:r>
          </a:p>
          <a:p>
            <a:r>
              <a:rPr lang="en-US" dirty="0"/>
              <a:t>TTPs for software</a:t>
            </a:r>
          </a:p>
          <a:p>
            <a:pPr lvl="1"/>
            <a:r>
              <a:rPr lang="en-US" dirty="0"/>
              <a:t>MUST, MUST NOT, SHOULD, SHOULD NOT</a:t>
            </a:r>
          </a:p>
          <a:p>
            <a:pPr lvl="1"/>
            <a:r>
              <a:rPr lang="en-US" dirty="0"/>
              <a:t>Data types, formatting, extensibility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DD489-E1C3-6305-9CDA-A638DB540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protocols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IP</a:t>
            </a:r>
          </a:p>
          <a:p>
            <a:pPr lvl="1"/>
            <a:r>
              <a:rPr lang="en-US" dirty="0"/>
              <a:t>TCP</a:t>
            </a:r>
          </a:p>
          <a:p>
            <a:pPr lvl="1"/>
            <a:r>
              <a:rPr lang="en-US" dirty="0"/>
              <a:t>UDP</a:t>
            </a:r>
          </a:p>
          <a:p>
            <a:pPr lvl="1"/>
            <a:r>
              <a:rPr lang="en-US" dirty="0"/>
              <a:t>TLS/SSL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SMTP</a:t>
            </a:r>
          </a:p>
          <a:p>
            <a:pPr lvl="1"/>
            <a:r>
              <a:rPr lang="en-US" dirty="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20014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067C8BD-9B8B-CCBD-E7C5-AD62B9BD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857B85-4FE8-52A1-6060-DD392458A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4E0C-187B-7413-DC29-694644E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346-D237-F794-8BA9-B4F149BA8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Addresses</a:t>
            </a:r>
          </a:p>
          <a:p>
            <a:r>
              <a:rPr lang="en-US" dirty="0"/>
              <a:t>4 octets of 8 binary digits (bits) </a:t>
            </a:r>
            <a:r>
              <a:rPr lang="en-US" dirty="0">
                <a:sym typeface="Wingdings" panose="05000000000000000000" pitchFamily="2" charset="2"/>
              </a:rPr>
              <a:t> 32 bits</a:t>
            </a:r>
            <a:endParaRPr lang="en-US" dirty="0"/>
          </a:p>
          <a:p>
            <a:pPr lvl="1"/>
            <a:r>
              <a:rPr lang="en-US" dirty="0"/>
              <a:t>Expressed in dotted decimal notation</a:t>
            </a:r>
          </a:p>
          <a:p>
            <a:pPr lvl="1"/>
            <a:r>
              <a:rPr lang="en-US" dirty="0"/>
              <a:t>192.168.0.1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11000000 10101000 00000000 00000001</a:t>
            </a:r>
          </a:p>
          <a:p>
            <a:pPr lvl="1"/>
            <a:r>
              <a:rPr lang="en-US" dirty="0"/>
              <a:t>Range of each octet is 0 – 255</a:t>
            </a:r>
          </a:p>
          <a:p>
            <a:r>
              <a:rPr lang="en-US" dirty="0"/>
              <a:t>A </a:t>
            </a:r>
            <a:r>
              <a:rPr lang="en-US" i="1" dirty="0"/>
              <a:t>logical</a:t>
            </a:r>
            <a:r>
              <a:rPr lang="en-US" dirty="0"/>
              <a:t> identifier for a device</a:t>
            </a:r>
          </a:p>
          <a:p>
            <a:pPr lvl="1"/>
            <a:r>
              <a:rPr lang="en-US" dirty="0"/>
              <a:t>Each device can have multiple addresses</a:t>
            </a:r>
          </a:p>
          <a:p>
            <a:pPr lvl="1"/>
            <a:r>
              <a:rPr lang="en-US" dirty="0"/>
              <a:t>In principle, each identifier is unique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E80E-E0B5-8B02-8A60-3CD4E005BB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Networks</a:t>
            </a:r>
          </a:p>
          <a:p>
            <a:r>
              <a:rPr lang="en-US" i="1" dirty="0"/>
              <a:t>Logical</a:t>
            </a:r>
            <a:r>
              <a:rPr lang="en-US" dirty="0"/>
              <a:t> separation of address spaces</a:t>
            </a:r>
          </a:p>
          <a:p>
            <a:pPr lvl="1"/>
            <a:r>
              <a:rPr lang="en-US" dirty="0"/>
              <a:t>Devices on the same network can talk directly (</a:t>
            </a:r>
            <a:r>
              <a:rPr lang="en-US" i="1" dirty="0"/>
              <a:t>switched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Devices on separate networks need to be </a:t>
            </a:r>
            <a:r>
              <a:rPr lang="en-US" i="1" dirty="0"/>
              <a:t>routed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Networks are defined by a “mask”</a:t>
            </a:r>
          </a:p>
          <a:p>
            <a:pPr lvl="1"/>
            <a:r>
              <a:rPr lang="en-US" dirty="0"/>
              <a:t>The first N bits define the network portion</a:t>
            </a:r>
          </a:p>
          <a:p>
            <a:pPr lvl="1"/>
            <a:r>
              <a:rPr lang="en-US" dirty="0"/>
              <a:t>The remaining 32 - N bits define the device ID</a:t>
            </a:r>
          </a:p>
          <a:p>
            <a:r>
              <a:rPr lang="en-US" dirty="0"/>
              <a:t>192.168.0.1 </a:t>
            </a:r>
            <a:r>
              <a:rPr lang="en-US" dirty="0">
                <a:highlight>
                  <a:srgbClr val="FFFF00"/>
                </a:highlight>
              </a:rPr>
              <a:t>/24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24 bits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 network mask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last 8 bits  device mask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192.168.0</a:t>
            </a:r>
            <a:r>
              <a:rPr lang="en-US" dirty="0">
                <a:highlight>
                  <a:srgbClr val="00FFFF"/>
                </a:highlight>
              </a:rPr>
              <a:t>.1 </a:t>
            </a:r>
            <a:r>
              <a:rPr lang="en-US" dirty="0">
                <a:highlight>
                  <a:srgbClr val="FFFF00"/>
                </a:highlight>
              </a:rPr>
              <a:t>/24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8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D50-A6CB-80FA-F812-E0E22C86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316-4990-C40E-88E3-885AFE5C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4454811" cy="3429000"/>
          </a:xfrm>
        </p:spPr>
        <p:txBody>
          <a:bodyPr/>
          <a:lstStyle/>
          <a:p>
            <a:r>
              <a:rPr lang="en-US" dirty="0"/>
              <a:t>1 byte = 8 bits</a:t>
            </a:r>
          </a:p>
          <a:p>
            <a:r>
              <a:rPr lang="en-US" dirty="0"/>
              <a:t>Range = 0 – 255</a:t>
            </a:r>
          </a:p>
          <a:p>
            <a:r>
              <a:rPr lang="en-US" dirty="0"/>
              <a:t>Commonly the Most Significant Bit is on the left</a:t>
            </a:r>
          </a:p>
          <a:p>
            <a:r>
              <a:rPr lang="en-US" dirty="0"/>
              <a:t>Add up any value that has a `1` below it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128  64  32  16   8   4   2   1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   1   1   0   0   0   0   0 (binary)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64 + 32 = 96 (decimal)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32 bits = ?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4,294,967,295 max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032-8795-A77F-55F3-849C3E49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9861" y="1200150"/>
            <a:ext cx="3792657" cy="3429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EA91C-FBC5-BBE5-41F0-C9CE3B38B8C5}"/>
              </a:ext>
            </a:extLst>
          </p:cNvPr>
          <p:cNvCxnSpPr/>
          <p:nvPr/>
        </p:nvCxnSpPr>
        <p:spPr>
          <a:xfrm>
            <a:off x="677008" y="2475035"/>
            <a:ext cx="3235569" cy="0"/>
          </a:xfrm>
          <a:prstGeom prst="line">
            <a:avLst/>
          </a:prstGeom>
          <a:ln w="12700" cap="flat"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070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E5D6-4AB1-3CA6-1978-F5E4A79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30F4-7F5D-E8AE-5037-76CAF9EF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857250"/>
            <a:ext cx="5427018" cy="3429000"/>
          </a:xfrm>
        </p:spPr>
        <p:txBody>
          <a:bodyPr/>
          <a:lstStyle/>
          <a:p>
            <a:r>
              <a:rPr lang="en-US" dirty="0"/>
              <a:t>Work through some samples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22. 10.  5  /14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(IP address)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11111111 11111100 00000000 00000000 (network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solidFill>
                  <a:srgbClr val="22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00000000 00000000 (network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00000000 00000011 11111111 11111111 (device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(device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172.22.10.5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20.  5.  9  /14</a:t>
            </a:r>
          </a:p>
          <a:p>
            <a:r>
              <a:rPr lang="en-US" dirty="0">
                <a:cs typeface="Courier New" panose="02070309020205020404" pitchFamily="49" charset="0"/>
              </a:rPr>
              <a:t>Which addresses are on the same network?</a:t>
            </a:r>
          </a:p>
          <a:p>
            <a:r>
              <a:rPr lang="en-US" dirty="0">
                <a:cs typeface="Courier New" panose="02070309020205020404" pitchFamily="49" charset="0"/>
              </a:rPr>
              <a:t>How many devices addresses can be assigned in a /16?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CA81-A052-0CE0-F95D-EE4E0276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855" y="857250"/>
            <a:ext cx="2783663" cy="3429000"/>
          </a:xfrm>
        </p:spPr>
        <p:txBody>
          <a:bodyPr/>
          <a:lstStyle/>
          <a:p>
            <a:r>
              <a:rPr lang="en-US" dirty="0"/>
              <a:t>Called “Classless </a:t>
            </a:r>
            <a:r>
              <a:rPr lang="en-US" dirty="0" err="1"/>
              <a:t>InterDomain</a:t>
            </a:r>
            <a:r>
              <a:rPr lang="en-US" dirty="0"/>
              <a:t> Routing” (CIDR)</a:t>
            </a:r>
          </a:p>
          <a:p>
            <a:r>
              <a:rPr lang="en-US" dirty="0"/>
              <a:t>Early internet was divided into “classes” of networks</a:t>
            </a:r>
          </a:p>
          <a:p>
            <a:pPr lvl="1"/>
            <a:r>
              <a:rPr lang="en-US" dirty="0"/>
              <a:t>/8</a:t>
            </a:r>
          </a:p>
          <a:p>
            <a:pPr lvl="1"/>
            <a:r>
              <a:rPr lang="en-US" dirty="0"/>
              <a:t>/12</a:t>
            </a:r>
          </a:p>
          <a:p>
            <a:pPr lvl="1"/>
            <a:r>
              <a:rPr lang="en-US" dirty="0"/>
              <a:t>/16</a:t>
            </a:r>
          </a:p>
          <a:p>
            <a:r>
              <a:rPr lang="en-US" dirty="0"/>
              <a:t>CIDR enables more efficient </a:t>
            </a:r>
            <a:r>
              <a:rPr lang="en-US" i="1" dirty="0"/>
              <a:t>subnetting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89C9-E27F-CA22-9450-DC3822303577}"/>
              </a:ext>
            </a:extLst>
          </p:cNvPr>
          <p:cNvSpPr txBox="1"/>
          <p:nvPr/>
        </p:nvSpPr>
        <p:spPr>
          <a:xfrm>
            <a:off x="3768363" y="3288323"/>
            <a:ext cx="23191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22. 10.  5  /14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20.  5.  9  /14</a:t>
            </a:r>
          </a:p>
          <a:p>
            <a:pPr lvl="1"/>
            <a:r>
              <a:rPr lang="en-US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</p:txBody>
      </p:sp>
    </p:spTree>
    <p:extLst>
      <p:ext uri="{BB962C8B-B14F-4D97-AF65-F5344CB8AC3E}">
        <p14:creationId xmlns:p14="http://schemas.microsoft.com/office/powerpoint/2010/main" val="15155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2ADB-713B-DD03-B1E1-B9A1B1CADE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27216-FE3C-ADAD-2201-AE69726FC2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Is a Subnet (Subnetwork)? Subnetting Explained">
            <a:extLst>
              <a:ext uri="{FF2B5EF4-FFF2-40B4-BE49-F238E27FC236}">
                <a16:creationId xmlns:a16="http://schemas.microsoft.com/office/drawing/2014/main" id="{390C059F-24A7-00BC-28CD-28875979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4" y="651511"/>
            <a:ext cx="762000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0583-9E7A-9535-B8F3-618E763A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Reserved Addresses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94FF6C-B6DB-83B0-18FA-B1AE514D6C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2834210"/>
              </p:ext>
            </p:extLst>
          </p:nvPr>
        </p:nvGraphicFramePr>
        <p:xfrm>
          <a:off x="2017876" y="1222997"/>
          <a:ext cx="4475578" cy="3611892"/>
        </p:xfrm>
        <a:graphic>
          <a:graphicData uri="http://schemas.openxmlformats.org/drawingml/2006/table">
            <a:tbl>
              <a:tblPr/>
              <a:tblGrid>
                <a:gridCol w="2237789">
                  <a:extLst>
                    <a:ext uri="{9D8B030D-6E8A-4147-A177-3AD203B41FA5}">
                      <a16:colId xmlns:a16="http://schemas.microsoft.com/office/drawing/2014/main" val="2893615785"/>
                    </a:ext>
                  </a:extLst>
                </a:gridCol>
                <a:gridCol w="2237789">
                  <a:extLst>
                    <a:ext uri="{9D8B030D-6E8A-4147-A177-3AD203B41FA5}">
                      <a16:colId xmlns:a16="http://schemas.microsoft.com/office/drawing/2014/main" val="3977585347"/>
                    </a:ext>
                  </a:extLst>
                </a:gridCol>
              </a:tblGrid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Network Range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Purpose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4534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0.0.0.0/8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identification, default routes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137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10.0.0.0/8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452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100.64.0.0/10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Carrier-grade NAT (CGNAT)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2173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127.0.0.0/8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Loopback</a:t>
                      </a:r>
                      <a:r>
                        <a:rPr lang="en-US" sz="1100" dirty="0"/>
                        <a:t> (localhost)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75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169.254.0.0/16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Link-local (APIPA)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5526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172.16.0.0/12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6714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192.0.0.0/24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IETF Protocol Assignments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45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192.168.0.0/16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092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192.88.99.0/24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IPv6-to-IPv4 relay (deprecated)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879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198.18.0.0/15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benchmark testing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3985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224.0.0.0/4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Multicast addresses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59718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240.0.0.0/4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Reserved for future use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94323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255.255.255.255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broadcast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1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9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work An internetwork is a collection of individual networks ...">
            <a:extLst>
              <a:ext uri="{FF2B5EF4-FFF2-40B4-BE49-F238E27FC236}">
                <a16:creationId xmlns:a16="http://schemas.microsoft.com/office/drawing/2014/main" id="{FB23301D-0286-5130-D819-BC1A0CD462F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9" y="929274"/>
            <a:ext cx="5373559" cy="40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1BE09-8E7B-B4C2-63AA-63406B6C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Even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E769-6BB0-719A-BDB8-C33C9FED92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networks </a:t>
            </a:r>
            <a:r>
              <a:rPr lang="en-US" dirty="0">
                <a:sym typeface="Wingdings" panose="05000000000000000000" pitchFamily="2" charset="2"/>
              </a:rPr>
              <a:t> needs routing</a:t>
            </a:r>
          </a:p>
          <a:p>
            <a:r>
              <a:rPr lang="en-US" dirty="0"/>
              <a:t>Internet consists of a “network of networks”</a:t>
            </a:r>
          </a:p>
          <a:p>
            <a:endParaRPr lang="en-US" dirty="0"/>
          </a:p>
          <a:p>
            <a:r>
              <a:rPr lang="en-US" dirty="0"/>
              <a:t>How do I prevent people from talking to devices on my network?</a:t>
            </a:r>
          </a:p>
          <a:p>
            <a:endParaRPr lang="en-US" dirty="0"/>
          </a:p>
          <a:p>
            <a:r>
              <a:rPr lang="en-US" dirty="0"/>
              <a:t>Didn’t we run out of IPv4 addresses?</a:t>
            </a:r>
          </a:p>
          <a:p>
            <a:endParaRPr lang="en-US" dirty="0"/>
          </a:p>
          <a:p>
            <a:r>
              <a:rPr lang="en-US" dirty="0"/>
              <a:t>Aren’t IP addresses expensive?</a:t>
            </a:r>
          </a:p>
        </p:txBody>
      </p:sp>
    </p:spTree>
    <p:extLst>
      <p:ext uri="{BB962C8B-B14F-4D97-AF65-F5344CB8AC3E}">
        <p14:creationId xmlns:p14="http://schemas.microsoft.com/office/powerpoint/2010/main" val="16487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07A-134F-E74B-8F22-7C869A97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A7DB-D7D2-A40D-3ADC-3E9E00B63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address some of these concerns, translation was introduced</a:t>
            </a:r>
          </a:p>
          <a:p>
            <a:pPr lvl="1"/>
            <a:r>
              <a:rPr lang="en-US" dirty="0"/>
              <a:t>Usually the function of a router</a:t>
            </a:r>
          </a:p>
          <a:p>
            <a:pPr lvl="1"/>
            <a:r>
              <a:rPr lang="en-US" dirty="0"/>
              <a:t>Convert </a:t>
            </a:r>
            <a:r>
              <a:rPr lang="en-US" i="1" dirty="0"/>
              <a:t>external</a:t>
            </a:r>
            <a:r>
              <a:rPr lang="en-US" dirty="0"/>
              <a:t> IP address into </a:t>
            </a:r>
            <a:r>
              <a:rPr lang="en-US" i="1" dirty="0"/>
              <a:t>internal</a:t>
            </a:r>
            <a:r>
              <a:rPr lang="en-US" dirty="0"/>
              <a:t> IP addresses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PAT (NAT overload)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66889-B576-DC01-1A43-50D3198F80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355708" y="1375177"/>
            <a:ext cx="4618419" cy="30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6D3-C8E3-C3A0-9FE3-E6FD88DD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15B4-0652-90D9-3928-F1C3182A1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“having many folds; many times as great in number; of many parts”</a:t>
            </a:r>
          </a:p>
          <a:p>
            <a:r>
              <a:rPr lang="en-US" dirty="0"/>
              <a:t>Fitting multiple streams over the same channel</a:t>
            </a:r>
          </a:p>
          <a:p>
            <a:r>
              <a:rPr lang="en-US" dirty="0"/>
              <a:t>Transport layer handles this with ports </a:t>
            </a:r>
            <a:br>
              <a:rPr lang="en-US" dirty="0"/>
            </a:br>
            <a:r>
              <a:rPr lang="en-US" dirty="0"/>
              <a:t>(sits above network layer)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/>
              <a:t>socket</a:t>
            </a:r>
            <a:r>
              <a:rPr lang="en-US" dirty="0"/>
              <a:t> consists of an IP/port pair between sender and receiver</a:t>
            </a:r>
          </a:p>
          <a:p>
            <a:pPr lvl="1"/>
            <a:r>
              <a:rPr lang="en-US" dirty="0"/>
              <a:t>Multiple streams of data on same interface</a:t>
            </a:r>
          </a:p>
          <a:p>
            <a:pPr lvl="1"/>
            <a:r>
              <a:rPr lang="en-US" dirty="0"/>
              <a:t>Operating system needs to know where (which application) traffic should go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 descr="Transport Layer ISO OSI TCP ports UDP datagram">
            <a:extLst>
              <a:ext uri="{FF2B5EF4-FFF2-40B4-BE49-F238E27FC236}">
                <a16:creationId xmlns:a16="http://schemas.microsoft.com/office/drawing/2014/main" id="{2C1F4B99-D98B-1BC4-AF3B-7E53A1C68F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2"/>
          <a:stretch>
            <a:fillRect/>
          </a:stretch>
        </p:blipFill>
        <p:spPr bwMode="auto">
          <a:xfrm>
            <a:off x="4709163" y="1564287"/>
            <a:ext cx="4024313" cy="27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42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C2A-1B81-B665-D7FE-12025152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8D0EDA-C2BA-F105-7BBD-3A7DB51175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9039856"/>
              </p:ext>
            </p:extLst>
          </p:nvPr>
        </p:nvGraphicFramePr>
        <p:xfrm>
          <a:off x="136509" y="1340827"/>
          <a:ext cx="8870981" cy="3191608"/>
        </p:xfrm>
        <a:graphic>
          <a:graphicData uri="http://schemas.openxmlformats.org/drawingml/2006/table">
            <a:tbl>
              <a:tblPr/>
              <a:tblGrid>
                <a:gridCol w="1267283">
                  <a:extLst>
                    <a:ext uri="{9D8B030D-6E8A-4147-A177-3AD203B41FA5}">
                      <a16:colId xmlns:a16="http://schemas.microsoft.com/office/drawing/2014/main" val="583604836"/>
                    </a:ext>
                  </a:extLst>
                </a:gridCol>
                <a:gridCol w="996508">
                  <a:extLst>
                    <a:ext uri="{9D8B030D-6E8A-4147-A177-3AD203B41FA5}">
                      <a16:colId xmlns:a16="http://schemas.microsoft.com/office/drawing/2014/main" val="1617437957"/>
                    </a:ext>
                  </a:extLst>
                </a:gridCol>
                <a:gridCol w="852854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01211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3050702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Scenario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Application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effectLst/>
                        </a:rPr>
                        <a:t>Same App, Multiple Connections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1)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2)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effectLst/>
                        </a:rPr>
                        <a:t>Different Protocols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DNS Query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HTTPS Request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900" b="1" dirty="0" err="1">
                          <a:effectLst/>
                        </a:rPr>
                        <a:t>Same</a:t>
                      </a:r>
                      <a:r>
                        <a:rPr lang="fr-FR" sz="900" b="1" dirty="0">
                          <a:effectLst/>
                        </a:rPr>
                        <a:t> Dest IP, </a:t>
                      </a:r>
                      <a:r>
                        <a:rPr lang="fr-FR" sz="900" b="1" dirty="0" err="1">
                          <a:effectLst/>
                        </a:rPr>
                        <a:t>Different</a:t>
                      </a:r>
                      <a:r>
                        <a:rPr lang="fr-FR" sz="900" b="1" dirty="0">
                          <a:effectLst/>
                        </a:rPr>
                        <a:t> Services</a:t>
                      </a:r>
                      <a:endParaRPr lang="fr-FR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Web Browser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FTP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Multiple Receivers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Email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Video Stream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1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13D9-5E6B-9AFC-0A80-2F58BD48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35C8-23B2-0AD9-92FF-A5EC71B4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developing an application…</a:t>
            </a:r>
          </a:p>
          <a:p>
            <a:pPr lvl="1"/>
            <a:r>
              <a:rPr lang="en-US" dirty="0"/>
              <a:t>Reserve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r>
              <a:rPr lang="en-US" dirty="0"/>
              <a:t> from the OS</a:t>
            </a:r>
          </a:p>
          <a:p>
            <a:pPr lvl="1"/>
            <a:r>
              <a:rPr lang="en-US" dirty="0"/>
              <a:t>Connect to some 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endParaRPr lang="en-US" dirty="0"/>
          </a:p>
          <a:p>
            <a:pPr lvl="1"/>
            <a:r>
              <a:rPr lang="en-US" dirty="0"/>
              <a:t>Use that </a:t>
            </a:r>
            <a:r>
              <a:rPr lang="en-US" i="1" dirty="0"/>
              <a:t>socket</a:t>
            </a:r>
            <a:r>
              <a:rPr lang="en-US" dirty="0"/>
              <a:t> to communicate</a:t>
            </a:r>
          </a:p>
          <a:p>
            <a:pPr lvl="1"/>
            <a:r>
              <a:rPr lang="en-US" dirty="0"/>
              <a:t>Every separate data stream needs its own socket (in general)</a:t>
            </a:r>
          </a:p>
          <a:p>
            <a:pPr lvl="2"/>
            <a:r>
              <a:rPr lang="en-US" dirty="0"/>
              <a:t>Different app</a:t>
            </a:r>
          </a:p>
          <a:p>
            <a:pPr lvl="2"/>
            <a:r>
              <a:rPr lang="en-US" dirty="0"/>
              <a:t>Different source</a:t>
            </a:r>
          </a:p>
          <a:p>
            <a:pPr lvl="2"/>
            <a:r>
              <a:rPr lang="en-US" dirty="0"/>
              <a:t>Different destination</a:t>
            </a:r>
          </a:p>
          <a:p>
            <a:pPr lvl="1"/>
            <a:r>
              <a:rPr lang="en-US" dirty="0"/>
              <a:t>Often handled by lower-level libraries</a:t>
            </a:r>
          </a:p>
          <a:p>
            <a:pPr lvl="1"/>
            <a:r>
              <a:rPr lang="en-US" dirty="0"/>
              <a:t>Cannot open a socket that another app is using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204-AEEE-6DB5-026C-EFB39C9E0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Python/</a:t>
            </a:r>
            <a:r>
              <a:rPr lang="en-US" dirty="0" err="1"/>
              <a:t>powershell</a:t>
            </a:r>
            <a:r>
              <a:rPr lang="en-US" dirty="0"/>
              <a:t> port demo</a:t>
            </a:r>
          </a:p>
        </p:txBody>
      </p:sp>
    </p:spTree>
    <p:extLst>
      <p:ext uri="{BB962C8B-B14F-4D97-AF65-F5344CB8AC3E}">
        <p14:creationId xmlns:p14="http://schemas.microsoft.com/office/powerpoint/2010/main" val="69422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E0BC7-17D6-046E-7386-9022E98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PAT</a:t>
            </a:r>
          </a:p>
        </p:txBody>
      </p:sp>
      <p:pic>
        <p:nvPicPr>
          <p:cNvPr id="5122" name="Picture 2" descr="A brief about PAT- Port Address Translation - The Network DNA">
            <a:extLst>
              <a:ext uri="{FF2B5EF4-FFF2-40B4-BE49-F238E27FC236}">
                <a16:creationId xmlns:a16="http://schemas.microsoft.com/office/drawing/2014/main" id="{E0D65BA9-BFE6-6CA9-5898-8675824CF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14388" r="12629" b="8549"/>
          <a:stretch>
            <a:fillRect/>
          </a:stretch>
        </p:blipFill>
        <p:spPr bwMode="auto">
          <a:xfrm>
            <a:off x="1197663" y="1093305"/>
            <a:ext cx="6495223" cy="38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CE09F-F8DE-38DD-DA30-7B2807E6216D}"/>
              </a:ext>
            </a:extLst>
          </p:cNvPr>
          <p:cNvSpPr txBox="1"/>
          <p:nvPr/>
        </p:nvSpPr>
        <p:spPr>
          <a:xfrm>
            <a:off x="411480" y="784943"/>
            <a:ext cx="3698350" cy="258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Back to networking…</a:t>
            </a:r>
          </a:p>
        </p:txBody>
      </p:sp>
    </p:spTree>
    <p:extLst>
      <p:ext uri="{BB962C8B-B14F-4D97-AF65-F5344CB8AC3E}">
        <p14:creationId xmlns:p14="http://schemas.microsoft.com/office/powerpoint/2010/main" val="4069145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4A1-CADA-6A93-8C81-14A1A18A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0E65A01-AEFF-728D-1BD4-A77E2F3A25B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0354768"/>
              </p:ext>
            </p:extLst>
          </p:nvPr>
        </p:nvGraphicFramePr>
        <p:xfrm>
          <a:off x="136509" y="1340827"/>
          <a:ext cx="8862417" cy="3369862"/>
        </p:xfrm>
        <a:graphic>
          <a:graphicData uri="http://schemas.openxmlformats.org/drawingml/2006/table">
            <a:tbl>
              <a:tblPr/>
              <a:tblGrid>
                <a:gridCol w="782608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812968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33782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734199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517616431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After PAT Rewrite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:50002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:50003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:50004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:50005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:50006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:50007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:50008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:50009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9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660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1167</Words>
  <Application>Microsoft Office PowerPoint</Application>
  <PresentationFormat>On-screen Show (16:9)</PresentationFormat>
  <Paragraphs>312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Bold</vt:lpstr>
      <vt:lpstr>Courier New</vt:lpstr>
      <vt:lpstr>Wingdings</vt:lpstr>
      <vt:lpstr>US Army 2023 AFC DEVCOM Logo</vt:lpstr>
      <vt:lpstr>Networking Basics For Applications</vt:lpstr>
      <vt:lpstr>Agenda</vt:lpstr>
      <vt:lpstr>Networking</vt:lpstr>
      <vt:lpstr>OSI model</vt:lpstr>
      <vt:lpstr>A Brief Aside:  Protocols</vt:lpstr>
      <vt:lpstr>IPv4 Addressing</vt:lpstr>
      <vt:lpstr>IPv4 Addressing Basics</vt:lpstr>
      <vt:lpstr>Binary Refresher</vt:lpstr>
      <vt:lpstr>IPv4 Addressing – More Networks</vt:lpstr>
      <vt:lpstr>PowerPoint Presentation</vt:lpstr>
      <vt:lpstr>IPv4 Addressing – Reserved Addresses</vt:lpstr>
      <vt:lpstr>IPv4 Addressing – Even More Networks</vt:lpstr>
      <vt:lpstr>IPv4 Addressing – NAT</vt:lpstr>
      <vt:lpstr>Multiplexing</vt:lpstr>
      <vt:lpstr>Multiplexing</vt:lpstr>
      <vt:lpstr>Sockets</vt:lpstr>
      <vt:lpstr>Port Reservations</vt:lpstr>
      <vt:lpstr>IPv4 Addressing – PAT</vt:lpstr>
      <vt:lpstr>PAT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146</cp:revision>
  <dcterms:modified xsi:type="dcterms:W3CDTF">2026-06-01T16:32:21Z</dcterms:modified>
</cp:coreProperties>
</file>